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C06F"/>
            </a:solidFill>
            <a:effectLst/>
          </c:spPr>
          <c:invertIfNegative val="0"/>
          <c:dLbls>
            <c:numFmt formatCode="$#,##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EFE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123</c:v>
                </c:pt>
                <c:pt idx="1">
                  <c:v>572</c:v>
                </c:pt>
                <c:pt idx="2">
                  <c:v>1600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F2A65A"/>
            </a:solidFill>
            <a:effectLst/>
          </c:spPr>
          <c:invertIfNegative val="0"/>
          <c:dLbls>
            <c:numFmt formatCode="$#,##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EFE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-272</c:v>
                </c:pt>
                <c:pt idx="1">
                  <c:v>-253</c:v>
                </c:pt>
                <c:pt idx="2">
                  <c:v>121</c:v>
                </c:pt>
              </c:numCache>
            </c:numRef>
          </c:val>
        </c:ser>
        <c:dLbls>
          <c:numFmt formatCode="$#,##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4EFE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03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EFE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1117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F4EFE7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0C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ACOB — AI Choice. One Bite. Live in production at projectboca.com. This is the dinner-decision app that ends the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dinner decision is universal, high-frequency, heavily researched, and genuinely painful. Search solved finding. Reviews solved vetting. Nobody solved choosing.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Jobs move: nobody craves a restaurant, they crave a dish. Every incumbent makes you evaluate restaurants. We got rid of the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category is stuck at search engine. Adding information makes the decision harder. We remove information and return an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reveal is the ritual — one restaurant, face-up like a card. Screenshots of the reveal are the marketing. Price shows on every card, so no sticker shock at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the problem is newly acknowledged, the tech newly works, and the buyer is newly motivated.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Framed both ways: moments and money. Consumer layer is the 79% who struggle to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E2 is the sleeper: dish-level preference data with prices attached — menu R&amp;D telemetry no incumbent has. Sell one ranking and both moats die. Anti-Groupon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start solved: transparent scoring works with zero history, hand-built launch catalog solves supply, taste graph compounds from the first swipe.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is live with a seeded catalog. Next milestone is the first real-market catalog and live swipe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EBITDA positive in Year 3. The 'E1 = $0' stress case answers the diligence question — 89% of Year-3 revenue is restaurant analytics plus handoffs.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funds one city for 18 months and the proof points that de-risk the seed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loop. The one line they remember: we got rid of the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2926080"/>
            <a:ext cx="5669280" cy="5669280"/>
          </a:xfrm>
          <a:prstGeom prst="ellipse">
            <a:avLst/>
          </a:prstGeom>
          <a:solidFill>
            <a:srgbClr val="141B24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2194560"/>
            <a:ext cx="4206240" cy="4206240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40080"/>
            <a:ext cx="457200" cy="457200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" y="585216"/>
            <a:ext cx="320040" cy="320040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658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PROJECTBOCA.COM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ACOB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Choice. </a:t>
            </a:r>
            <a:pPr indent="0" marL="0">
              <a:buNone/>
            </a:pPr>
            <a:r>
              <a:rPr lang="en-US" sz="3200" i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Bite.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858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dinner decision, ended in one swipe.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investor overview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night, 35 billion times a year,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someone asks the same question.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“Where should we eat?”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94760"/>
            <a:ext cx="2560320" cy="7772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4617720"/>
            <a:ext cx="2560320" cy="8229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arguments about dinner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couple, per year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5440680"/>
            <a:ext cx="2560320" cy="502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couples' argument — ahead of money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356616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3794760"/>
            <a:ext cx="2560320" cy="7772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 min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47872" y="4617720"/>
            <a:ext cx="2560320" cy="8229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deliberating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meal decision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47872" y="5440680"/>
            <a:ext cx="2560320" cy="502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~2.5 hours a week just deciding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356616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3794760"/>
            <a:ext cx="2560320" cy="7772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94%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9944" y="4617720"/>
            <a:ext cx="2560320" cy="8229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diners consult reviews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choosing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9944" y="5440680"/>
            <a:ext cx="2560320" cy="502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43% skip anything under 3.5★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356616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72016" y="3794760"/>
            <a:ext cx="2560320" cy="7772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68%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272016" y="4617720"/>
            <a:ext cx="2560320" cy="8229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deciding what to eat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#1 mealtime challenge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72016" y="5440680"/>
            <a:ext cx="2560320" cy="502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most-researched everyday purchase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Everyone built their tools around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wrong noun.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Nobody craves a </a:t>
            </a:r>
            <a:pPr indent="0" marL="0">
              <a:buNone/>
            </a:pPr>
            <a:r>
              <a:rPr lang="en-US" sz="3400" b="1" i="1" dirty="0">
                <a:solidFill>
                  <a:srgbClr val="8A97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restaurant</a:t>
            </a:r>
            <a:pPr indent="0" marL="0">
              <a:buNone/>
            </a:pPr>
            <a:r>
              <a:rPr lang="en-US" sz="34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People crave </a:t>
            </a:r>
            <a:pPr indent="0" marL="0">
              <a:buNone/>
            </a:pPr>
            <a:r>
              <a:rPr lang="en-US" sz="46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dishes.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ACOB flips the entire experience — the feature is what we removed: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28032"/>
            <a:ext cx="3502152" cy="1353312"/>
          </a:xfrm>
          <a:prstGeom prst="roundRect">
            <a:avLst>
              <a:gd name="adj" fmla="val 5405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5047488"/>
            <a:ext cx="256032" cy="256032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9" name="Shape 7"/>
          <p:cNvSpPr/>
          <p:nvPr/>
        </p:nvSpPr>
        <p:spPr>
          <a:xfrm>
            <a:off x="1009498" y="5016764"/>
            <a:ext cx="179222" cy="179222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50017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removed the list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541324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one dish at a time — no endless scroll of results.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4828032"/>
            <a:ext cx="3502152" cy="1353312"/>
          </a:xfrm>
          <a:prstGeom prst="roundRect">
            <a:avLst>
              <a:gd name="adj" fmla="val 5405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5047488"/>
            <a:ext cx="256032" cy="256032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14" name="Shape 12"/>
          <p:cNvSpPr/>
          <p:nvPr/>
        </p:nvSpPr>
        <p:spPr>
          <a:xfrm>
            <a:off x="4712818" y="5016764"/>
            <a:ext cx="179222" cy="179222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50017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removed the brand bias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0" y="541324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identity stays hidden. The best plate wins, not the biggest name.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4828032"/>
            <a:ext cx="3502152" cy="1353312"/>
          </a:xfrm>
          <a:prstGeom prst="roundRect">
            <a:avLst>
              <a:gd name="adj" fmla="val 5405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5047488"/>
            <a:ext cx="256032" cy="256032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6138" y="5016764"/>
            <a:ext cx="179222" cy="179222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20" name="Text 18"/>
          <p:cNvSpPr/>
          <p:nvPr/>
        </p:nvSpPr>
        <p:spPr>
          <a:xfrm>
            <a:off x="8641080" y="50017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removed the debate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75320" y="541324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Swipes reveal appetite. The session ends with exactly one winner.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IS OPEN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Search solved finding. Reviews solved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vetting. Nobody solved choosing.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FOR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FAILS AT 7PM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243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40480" y="26243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62432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4.2★ pizza vs. 4.3★ tacos is not a decision.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74136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741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Yelp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840480" y="33741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Opinion volume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3741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Strangers' averages ≠ your appetite; everyone herds to the safe middle.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12394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/ Instagram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840480" y="412394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12394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someday. Useless for tonight at 7.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873752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737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 &amp; delivery apps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840480" y="48737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transaction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48737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assume you already chose.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78815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a better search engine. </a:t>
            </a:r>
            <a:pPr indent="0" marL="0">
              <a:buNone/>
            </a:pPr>
            <a:r>
              <a:rPr lang="en-US" sz="1700" b="1" i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decision engine — the needle, not the haystack.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 ·  LIVE AT PROJECTBOCA.COM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Swipe dishes. Not restaurants.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724912"/>
            <a:ext cx="640080" cy="640080"/>
          </a:xfrm>
          <a:prstGeom prst="ellipse">
            <a:avLst/>
          </a:prstGeom>
          <a:solidFill>
            <a:srgbClr val="1C2530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96112" y="35204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vibe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402336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ZIP, distance, price in plain language, dine-in / takeout / delivery. Ten seconds.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73552" y="38404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83864" y="24688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9896" y="2724912"/>
            <a:ext cx="640080" cy="640080"/>
          </a:xfrm>
          <a:prstGeom prst="ellipse">
            <a:avLst/>
          </a:prstGeom>
          <a:solidFill>
            <a:srgbClr val="1C2530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39896" y="35204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dishes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39896" y="402336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food, real prices, restaurant hidden. Every swipe quietly scores an invisible tournament.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17336" y="38404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27648" y="24688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724912"/>
            <a:ext cx="640080" cy="640080"/>
          </a:xfrm>
          <a:prstGeom prst="ellipse">
            <a:avLst/>
          </a:prstGeom>
          <a:solidFill>
            <a:srgbClr val="1C2530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583680" y="35204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Round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83680" y="402336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“We've got contenders.” A fast head-to-head among your own liked dishes. The palette shifts; stakes rise.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61120" y="38404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71432" y="24688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27464" y="2724912"/>
            <a:ext cx="640080" cy="640080"/>
          </a:xfrm>
          <a:prstGeom prst="ellipse">
            <a:avLst/>
          </a:prstGeom>
          <a:solidFill>
            <a:srgbClr val="2EC06F"/>
          </a:solidFill>
          <a:ln w="12700">
            <a:solidFill>
              <a:srgbClr val="2EC0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27464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C11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427464" y="35204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winner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27464" y="402336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one restaurant turns face-up. Directions, pickup, or delivery — one tap.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KPI is time-to-decision. Door to dinner in under a minute — and it feels like a game, not a chore.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curves just crossed.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944368"/>
            <a:ext cx="548640" cy="548640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11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8529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fatigue went mainstream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32735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Diners now distrust averaged star ratings — and say so. The pain is finally named and measurable.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50208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242816"/>
            <a:ext cx="548640" cy="548640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42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11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415137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 models finally work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that needed Netflix-scale data in 2015 now runs on thin per-user data in the LLM era.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248656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541264"/>
            <a:ext cx="548640" cy="548640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541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11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5449824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 want full-price demand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58704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pressure is the industry's headline for 2026. Operators crave qualified diners, not discount traffic.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ACOB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$1.55 trillion industry—with a broken front door.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C2530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57400" y="228600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$46B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343400" y="228600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restaurant demand-generation spend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578608"/>
            <a:ext cx="2606040" cy="256032"/>
          </a:xfrm>
          <a:prstGeom prst="roundRect">
            <a:avLst>
              <a:gd name="adj" fmla="val 14286"/>
            </a:avLst>
          </a:prstGeom>
          <a:solidFill>
            <a:srgbClr val="0C1117"/>
          </a:solidFill>
          <a:ln/>
        </p:spPr>
      </p:sp>
      <p:sp>
        <p:nvSpPr>
          <p:cNvPr id="9" name="Shape 7"/>
          <p:cNvSpPr/>
          <p:nvPr/>
        </p:nvSpPr>
        <p:spPr>
          <a:xfrm>
            <a:off x="8732520" y="2578608"/>
            <a:ext cx="2606040" cy="256032"/>
          </a:xfrm>
          <a:prstGeom prst="roundRect">
            <a:avLst>
              <a:gd name="adj" fmla="val 14286"/>
            </a:avLst>
          </a:prstGeom>
          <a:solidFill>
            <a:srgbClr val="2EC06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24612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F3A2E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324612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$19B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43400" y="324612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local-discovery share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32520" y="3538728"/>
            <a:ext cx="2606040" cy="256032"/>
          </a:xfrm>
          <a:prstGeom prst="roundRect">
            <a:avLst>
              <a:gd name="adj" fmla="val 14286"/>
            </a:avLst>
          </a:prstGeom>
          <a:solidFill>
            <a:srgbClr val="0C1117"/>
          </a:solidFill>
          <a:ln/>
        </p:spPr>
      </p:sp>
      <p:sp>
        <p:nvSpPr>
          <p:cNvPr id="15" name="Shape 13"/>
          <p:cNvSpPr/>
          <p:nvPr/>
        </p:nvSpPr>
        <p:spPr>
          <a:xfrm>
            <a:off x="8732520" y="3538728"/>
            <a:ext cx="1068476" cy="256032"/>
          </a:xfrm>
          <a:prstGeom prst="roundRect">
            <a:avLst>
              <a:gd name="adj" fmla="val 14286"/>
            </a:avLst>
          </a:prstGeom>
          <a:solidFill>
            <a:srgbClr val="2EC06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20624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6241C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0624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57400" y="420624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$19M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343400" y="420624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obtainable — the launch-metro wedge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32520" y="4498848"/>
            <a:ext cx="2606040" cy="256032"/>
          </a:xfrm>
          <a:prstGeom prst="roundRect">
            <a:avLst>
              <a:gd name="adj" fmla="val 14286"/>
            </a:avLst>
          </a:prstGeom>
          <a:solidFill>
            <a:srgbClr val="0C1117"/>
          </a:solidFill>
          <a:ln/>
        </p:spPr>
      </p:sp>
      <p:sp>
        <p:nvSpPr>
          <p:cNvPr id="21" name="Shape 19"/>
          <p:cNvSpPr/>
          <p:nvPr/>
        </p:nvSpPr>
        <p:spPr>
          <a:xfrm>
            <a:off x="8732520" y="4498848"/>
            <a:ext cx="312725" cy="256032"/>
          </a:xfrm>
          <a:prstGeom prst="roundRect">
            <a:avLst>
              <a:gd name="adj" fmla="val 14286"/>
            </a:avLst>
          </a:prstGeom>
          <a:solidFill>
            <a:srgbClr val="2EC06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184648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41B24"/>
          </a:solidFill>
          <a:ln w="12700">
            <a:solidFill>
              <a:srgbClr val="2EC0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8464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~35 billion  </a:t>
            </a:r>
            <a:pPr indent="0" marL="0">
              <a:buNone/>
            </a:pPr>
            <a:r>
              <a:rPr lang="en-US" sz="15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should we eat?” moments a year — and 79% of Americans struggle to decide.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0080" y="6382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National Restaurant Association 2026 State of the Industry; SocialPilot; US Foods survey. Full basis in the investor model.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engines. One flywheel.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$4.99/mo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premium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sessions, taste history, dietary filters, occasion mode.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9976" y="246888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16241C"/>
          </a:solidFill>
          <a:ln w="19050">
            <a:solidFill>
              <a:srgbClr val="2EC0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77256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$99/mo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54296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Intelligence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54296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54296" y="4114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Dish-level demand data no one else has: which plates win, which almost won, price-sensitivity by block.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54296" y="5257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SLEEPER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19872" y="246888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17152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$1.00 ea.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94192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Decided-diner handoff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94192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/ BOOKING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94192" y="4114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diner who has already chosen — the highest-intent lead on the internet.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uncrossable line:  </a:t>
            </a:r>
            <a:pPr indent="0" marL="0">
              <a:buNone/>
            </a:pPr>
            <a:r>
              <a:rPr lang="en-US" sz="1600" i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restaurants pay to be measured, never to win. The tournament is never for sale.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flywheel compounds from swipe #1.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0" y="2377440"/>
            <a:ext cx="3291840" cy="3291840"/>
          </a:xfrm>
          <a:prstGeom prst="ellipse">
            <a:avLst/>
          </a:prstGeom>
          <a:ln w="25400">
            <a:solidFill>
              <a:srgbClr val="26303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514600" y="201168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1C2530"/>
          </a:solidFill>
          <a:ln w="12700">
            <a:solidFill>
              <a:srgbClr val="2EC0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2011680"/>
            <a:ext cx="15544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swipes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0" y="361188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1C2530"/>
          </a:solidFill>
          <a:ln w="12700">
            <a:solidFill>
              <a:srgbClr val="2EC0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3611880"/>
            <a:ext cx="15544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taste graph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dish telemetry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14600" y="521208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1C2530"/>
          </a:solidFill>
          <a:ln w="12700">
            <a:solidFill>
              <a:srgbClr val="2EC0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5212080"/>
            <a:ext cx="15544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picks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361188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1C2530"/>
          </a:solidFill>
          <a:ln w="12700">
            <a:solidFill>
              <a:srgbClr val="2EC0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611880"/>
            <a:ext cx="15544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trust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17520" y="3749040"/>
            <a:ext cx="548640" cy="548640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14" name="Shape 12"/>
          <p:cNvSpPr/>
          <p:nvPr/>
        </p:nvSpPr>
        <p:spPr>
          <a:xfrm>
            <a:off x="3319272" y="3683203"/>
            <a:ext cx="384048" cy="384048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moats, both growing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306324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moat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3566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user's taste graph and every restaurant's dish telemetry deepen with use. Incumbents hold restaurant-level data; the dish-level corpus must be built swipe by swipe — the startup's job, not theirs.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4636008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4773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moat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51389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pick is editorial — never bought. That's the reason diners believe the answer, and the reason restaurants can't buy their way to the top.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Own one city block-by-block.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A97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Launch wedge:  </a:t>
            </a:r>
            <a:pPr indent="0" marL="0">
              <a:buNone/>
            </a:pPr>
            <a:r>
              <a:rPr lang="en-US" sz="24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Boca Raton, FL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3273552"/>
            <a:ext cx="292608" cy="292608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7" name="Shape 5"/>
          <p:cNvSpPr/>
          <p:nvPr/>
        </p:nvSpPr>
        <p:spPr>
          <a:xfrm>
            <a:off x="1057046" y="3238439"/>
            <a:ext cx="204826" cy="204826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2004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Dense, high-frequency dining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5844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walkable restaurant scene with the dine-out habit already built 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30175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3273552"/>
            <a:ext cx="292608" cy="292608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12" name="Shape 10"/>
          <p:cNvSpPr/>
          <p:nvPr/>
        </p:nvSpPr>
        <p:spPr>
          <a:xfrm>
            <a:off x="6634886" y="3238439"/>
            <a:ext cx="204826" cy="204826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32004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Word-of-mouth demographics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49440" y="35844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reveal screenshot is the growth loop — this crowd shares.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4736592"/>
            <a:ext cx="292608" cy="292608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7046" y="4701479"/>
            <a:ext cx="204826" cy="204826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6634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 as a stress test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04748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Snowbird swings pressure-test demand twice a year, on purpose.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44805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4736592"/>
            <a:ext cx="292608" cy="292608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22" name="Shape 20"/>
          <p:cNvSpPr/>
          <p:nvPr/>
        </p:nvSpPr>
        <p:spPr>
          <a:xfrm>
            <a:off x="6634886" y="4701479"/>
            <a:ext cx="204826" cy="204826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46634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Hand-onboard ~200 restaurants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504748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photograph the dishes ourselves. Card quality is product quality.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down the Gold Coast, then metro-by-metro. Density first, geography second.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ACOB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pre-seed path to $2.3M ARR.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46888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2514600"/>
            <a:ext cx="3867912" cy="868680"/>
          </a:xfrm>
          <a:prstGeom prst="roundRect">
            <a:avLst>
              <a:gd name="adj" fmla="val 8421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2514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$833K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372600" y="26334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raise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7260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burn + 40% buffer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680960" y="3474720"/>
            <a:ext cx="3867912" cy="868680"/>
          </a:xfrm>
          <a:prstGeom prst="roundRect">
            <a:avLst>
              <a:gd name="adj" fmla="val 8421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3474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$2.3M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9372600" y="3593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Year-3 exit ARR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372600" y="3931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146K MAU · 818 restaurants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680960" y="4434840"/>
            <a:ext cx="3867912" cy="868680"/>
          </a:xfrm>
          <a:prstGeom prst="roundRect">
            <a:avLst>
              <a:gd name="adj" fmla="val 8421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0" y="44348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7.1x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9372600" y="4553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LTV : CAC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372600" y="4892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CAC payback ~4 mo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680960" y="5394960"/>
            <a:ext cx="3867912" cy="868680"/>
          </a:xfrm>
          <a:prstGeom prst="roundRect">
            <a:avLst>
              <a:gd name="adj" fmla="val 8421"/>
            </a:avLst>
          </a:prstGeom>
          <a:solidFill>
            <a:srgbClr val="141B24"/>
          </a:solidFill>
          <a:ln w="12700">
            <a:solidFill>
              <a:srgbClr val="26303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0" y="53949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89%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9372600" y="55138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Y3 revenue is B2B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372600" y="5852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holds even if E1 = $0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6382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base case from the working investor model (ACOB_Investor_Model.xlsx). Every input is a founder-editable assumption.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$750K pre-seed. 18 months.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metrics that unlock the seed.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2EC06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108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engineering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2356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40%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822192"/>
            <a:ext cx="4320540" cy="502920"/>
          </a:xfrm>
          <a:prstGeom prst="roundRect">
            <a:avLst>
              <a:gd name="adj" fmla="val 9091"/>
            </a:avLst>
          </a:prstGeom>
          <a:solidFill>
            <a:srgbClr val="F2A65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22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Launch-city catalog &amp; GTM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23560" y="38221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35%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535424"/>
            <a:ext cx="3086100" cy="502920"/>
          </a:xfrm>
          <a:prstGeom prst="roundRect">
            <a:avLst>
              <a:gd name="adj" fmla="val 9091"/>
            </a:avLst>
          </a:prstGeom>
          <a:solidFill>
            <a:srgbClr val="1C253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5354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23560" y="453542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92240" y="265176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141B24"/>
          </a:solidFill>
          <a:ln w="12700">
            <a:solidFill>
              <a:srgbClr val="2EC0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THAT UNLOCK THE SEED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3383280"/>
            <a:ext cx="219456" cy="219456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17" name="Shape 15"/>
          <p:cNvSpPr/>
          <p:nvPr/>
        </p:nvSpPr>
        <p:spPr>
          <a:xfrm>
            <a:off x="6932981" y="3356945"/>
            <a:ext cx="153619" cy="153619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32918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25K MAU in the launch metro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12280" y="3895344"/>
            <a:ext cx="219456" cy="219456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20" name="Shape 18"/>
          <p:cNvSpPr/>
          <p:nvPr/>
        </p:nvSpPr>
        <p:spPr>
          <a:xfrm>
            <a:off x="6932981" y="3869009"/>
            <a:ext cx="153619" cy="153619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380390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paying Menu Intelligence restaurants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12280" y="4407408"/>
            <a:ext cx="219456" cy="219456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23" name="Shape 21"/>
          <p:cNvSpPr/>
          <p:nvPr/>
        </p:nvSpPr>
        <p:spPr>
          <a:xfrm>
            <a:off x="6932981" y="4381073"/>
            <a:ext cx="153619" cy="153619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43159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time-to-decision &lt; 60 seconds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12280" y="4919472"/>
            <a:ext cx="219456" cy="219456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26" name="Shape 24"/>
          <p:cNvSpPr/>
          <p:nvPr/>
        </p:nvSpPr>
        <p:spPr>
          <a:xfrm>
            <a:off x="6932981" y="4893137"/>
            <a:ext cx="153619" cy="153619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482803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Round completion &gt; 60%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12280" y="5431536"/>
            <a:ext cx="219456" cy="219456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29" name="Shape 27"/>
          <p:cNvSpPr/>
          <p:nvPr/>
        </p:nvSpPr>
        <p:spPr>
          <a:xfrm>
            <a:off x="6932981" y="5405201"/>
            <a:ext cx="153619" cy="153619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30" name="Text 28"/>
          <p:cNvSpPr/>
          <p:nvPr/>
        </p:nvSpPr>
        <p:spPr>
          <a:xfrm>
            <a:off x="7178040" y="534009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LTV : CAC &gt;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ACOB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41B24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3840480"/>
            <a:ext cx="4114800" cy="4114800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731520"/>
            <a:ext cx="502920" cy="502920"/>
          </a:xfrm>
          <a:prstGeom prst="ellipse">
            <a:avLst/>
          </a:prstGeom>
          <a:solidFill>
            <a:srgbClr val="2EC06F"/>
          </a:solidFill>
          <a:ln/>
        </p:spPr>
      </p:sp>
      <p:sp>
        <p:nvSpPr>
          <p:cNvPr id="5" name="Shape 3"/>
          <p:cNvSpPr/>
          <p:nvPr/>
        </p:nvSpPr>
        <p:spPr>
          <a:xfrm>
            <a:off x="9694926" y="671170"/>
            <a:ext cx="352044" cy="352044"/>
          </a:xfrm>
          <a:prstGeom prst="ellipse">
            <a:avLst/>
          </a:prstGeom>
          <a:solidFill>
            <a:srgbClr val="0C1117"/>
          </a:solidFill>
          <a:ln/>
        </p:spPr>
      </p:sp>
      <p:sp>
        <p:nvSpPr>
          <p:cNvPr id="6" name="Text 4"/>
          <p:cNvSpPr/>
          <p:nvPr/>
        </p:nvSpPr>
        <p:spPr>
          <a:xfrm>
            <a:off x="10104120" y="749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ACOB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 didn't build a better list.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 got rid of </a:t>
            </a:r>
            <a:pPr indent="0" marL="0">
              <a:buNone/>
            </a:pPr>
            <a:r>
              <a:rPr lang="en-US" sz="4400" b="1" dirty="0">
                <a:solidFill>
                  <a:srgbClr val="2EC0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list.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143000" y="4754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projectboca.com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 Yates  ·  jordan.yates  ·  Pre-seed, July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2026-07-18T19:20:32Z</dcterms:created>
  <dcterms:modified xsi:type="dcterms:W3CDTF">2026-07-18T19:20:32Z</dcterms:modified>
</cp:coreProperties>
</file>